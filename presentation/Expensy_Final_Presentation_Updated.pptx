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9184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EXPENSY</a:t>
            </a:r>
          </a:p>
          <a:p>
            <a:pPr>
              <a:spcBef>
                <a:spcPts val="1000"/>
              </a:spcBef>
              <a:defRPr sz="2500">
                <a:solidFill>
                  <a:srgbClr val="0EA5E9"/>
                </a:solidFill>
              </a:defRPr>
            </a:pPr>
            <a:r>
              <a:t>End-to-End DevOps Deployment on Amazon EKS</a:t>
            </a:r>
          </a:p>
          <a:p>
            <a:pPr>
              <a:spcBef>
                <a:spcPts val="1800"/>
              </a:spcBef>
              <a:defRPr sz="1600">
                <a:solidFill>
                  <a:srgbClr val="94A3B8"/>
                </a:solidFill>
              </a:defRPr>
            </a:pPr>
            <a:r>
              <a:t>Terraform • Kubernetes • CI/CD • HTTPS • Monitoring •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2243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rPr dirty="0"/>
              <a:t>Presented by Ahsan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Take a simple expense tracker from local development to a secure, observable EKS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29000" cy="3108960"/>
          </a:xfrm>
          <a:prstGeom prst="roundRect">
            <a:avLst/>
          </a:prstGeom>
          <a:solidFill>
            <a:srgbClr val="111D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3108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rPr dirty="0"/>
              <a:t>1  Local Development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rPr dirty="0"/>
              <a:t>Frontend + backend run with Node.js, with MongoDB for data and Redis for caching.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3108960"/>
          </a:xfrm>
          <a:prstGeom prst="roundRect">
            <a:avLst/>
          </a:prstGeom>
          <a:solidFill>
            <a:srgbClr val="111D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73152" cy="3108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719072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2  Containerized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Dockerfiles for frontend/backend and Docker Compose for the complete local 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54480"/>
            <a:ext cx="3429000" cy="3108960"/>
          </a:xfrm>
          <a:prstGeom prst="roundRect">
            <a:avLst/>
          </a:prstGeom>
          <a:solidFill>
            <a:srgbClr val="111D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554480"/>
            <a:ext cx="73152" cy="3108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19072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3  Cloud Deployment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Terraform provisions EKS; Kubernetes deploys the app; GitHub Actions automates delivery.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4241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rPr dirty="0"/>
              <a:t>• Goal: repeatable deployment, secure access, </a:t>
            </a:r>
            <a:r>
              <a:rPr lang="en-US" dirty="0"/>
              <a:t>easy monitoring of the application and infrastructure.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576696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Public HTTPS entry point</a:t>
            </a:r>
            <a:r>
              <a:rPr lang="en-US" dirty="0"/>
              <a:t> - </a:t>
            </a:r>
            <a:r>
              <a:rPr dirty="0"/>
              <a:t>application workloads run on private EKS worker nodes.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1BE7A4-A3B6-4D57-BDB1-749CF67A9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378" y="1279477"/>
            <a:ext cx="7356764" cy="50490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Infrastructure and application delivery are separated but reproducible.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874519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Git Push</a:t>
            </a:r>
          </a:p>
        </p:txBody>
      </p:sp>
      <p:sp>
        <p:nvSpPr>
          <p:cNvPr id="6" name="Chevron 5"/>
          <p:cNvSpPr/>
          <p:nvPr/>
        </p:nvSpPr>
        <p:spPr>
          <a:xfrm>
            <a:off x="2496312" y="1737360"/>
            <a:ext cx="347472" cy="292608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98648" y="1508760"/>
            <a:ext cx="1874519" cy="7772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Docker Build</a:t>
            </a:r>
          </a:p>
        </p:txBody>
      </p:sp>
      <p:sp>
        <p:nvSpPr>
          <p:cNvPr id="8" name="Chevron 7"/>
          <p:cNvSpPr/>
          <p:nvPr/>
        </p:nvSpPr>
        <p:spPr>
          <a:xfrm>
            <a:off x="4800600" y="1737360"/>
            <a:ext cx="347472" cy="292608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02936" y="1508760"/>
            <a:ext cx="1874519" cy="7772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Docker Hub</a:t>
            </a:r>
          </a:p>
        </p:txBody>
      </p:sp>
      <p:sp>
        <p:nvSpPr>
          <p:cNvPr id="10" name="Chevron 9"/>
          <p:cNvSpPr/>
          <p:nvPr/>
        </p:nvSpPr>
        <p:spPr>
          <a:xfrm>
            <a:off x="7104888" y="1737360"/>
            <a:ext cx="347472" cy="292608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07223" y="1508760"/>
            <a:ext cx="1874519" cy="7772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AWS / EKS</a:t>
            </a:r>
          </a:p>
        </p:txBody>
      </p:sp>
      <p:sp>
        <p:nvSpPr>
          <p:cNvPr id="12" name="Chevron 11"/>
          <p:cNvSpPr/>
          <p:nvPr/>
        </p:nvSpPr>
        <p:spPr>
          <a:xfrm>
            <a:off x="9409176" y="1737360"/>
            <a:ext cx="347472" cy="292608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11511" y="1508760"/>
            <a:ext cx="1874519" cy="7772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kubectl Apply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3429000" cy="2423160"/>
          </a:xfrm>
          <a:prstGeom prst="roundRect">
            <a:avLst/>
          </a:prstGeom>
          <a:solidFill>
            <a:srgbClr val="111D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73152" cy="2423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907792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Terraform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VPC, public/private subnets, NAT Gateway, EKS cluster, and managed t3.medium worker nodes.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743200"/>
            <a:ext cx="3429000" cy="2423160"/>
          </a:xfrm>
          <a:prstGeom prst="roundRect">
            <a:avLst/>
          </a:prstGeom>
          <a:solidFill>
            <a:srgbClr val="111D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743200"/>
            <a:ext cx="73152" cy="2423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2907792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Kubernetes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Deployments + ClusterIP services for frontend, backend, MongoDB and Redis; NGINX Ingress routes traffic.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743200"/>
            <a:ext cx="3429000" cy="2423160"/>
          </a:xfrm>
          <a:prstGeom prst="roundRect">
            <a:avLst/>
          </a:prstGeom>
          <a:solidFill>
            <a:srgbClr val="111D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2743200"/>
            <a:ext cx="73152" cy="2423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2907792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GitHub Actions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t>Builds and pushes images, creates/updates Kubernetes secrets, applies manifests, and verifies rollout.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Security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440486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Security controls and monitoring were part of the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7492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Private EKS worker subnets</a:t>
            </a:r>
            <a:r>
              <a:rPr lang="en-US" dirty="0"/>
              <a:t> - </a:t>
            </a:r>
            <a:r>
              <a:rPr dirty="0"/>
              <a:t>public traffic only through NGINX / </a:t>
            </a:r>
            <a:r>
              <a:rPr dirty="0" err="1"/>
              <a:t>LoadBalancer</a:t>
            </a:r>
            <a:endParaRPr dirty="0"/>
          </a:p>
          <a:p>
            <a:pPr>
              <a:spcAft>
                <a:spcPts val="11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HTTPS with Route 53, cert-manager and Let's Encrypt</a:t>
            </a:r>
          </a:p>
          <a:p>
            <a:pPr>
              <a:spcAft>
                <a:spcPts val="11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Kubernetes + GitHub Actions Secrets</a:t>
            </a:r>
            <a:r>
              <a:rPr lang="en-US" dirty="0"/>
              <a:t> -</a:t>
            </a:r>
            <a:r>
              <a:rPr dirty="0"/>
              <a:t> real </a:t>
            </a:r>
            <a:r>
              <a:rPr dirty="0" err="1"/>
              <a:t>secrets.yaml</a:t>
            </a:r>
            <a:r>
              <a:rPr dirty="0"/>
              <a:t> is </a:t>
            </a:r>
            <a:r>
              <a:rPr dirty="0" err="1"/>
              <a:t>gitignored</a:t>
            </a:r>
            <a:endParaRPr dirty="0"/>
          </a:p>
          <a:p>
            <a:pPr>
              <a:spcAft>
                <a:spcPts val="11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Prometheus + Grafana for metrics</a:t>
            </a:r>
            <a:r>
              <a:rPr lang="en-US" dirty="0"/>
              <a:t> -</a:t>
            </a:r>
            <a:r>
              <a:rPr dirty="0"/>
              <a:t> CloudWatch Container Insights for logs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24C23D-D064-49CE-A2E7-0AEB3FBC9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137" y="3891319"/>
            <a:ext cx="5886023" cy="2619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F2CF0C-3B00-4FC2-B3B2-2F289DFDB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569" y="987552"/>
            <a:ext cx="5943158" cy="2751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Two issues that required debugging across the application and observability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94960" cy="4526280"/>
          </a:xfrm>
          <a:prstGeom prst="roundRect">
            <a:avLst/>
          </a:prstGeom>
          <a:solidFill>
            <a:srgbClr val="111D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4526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rPr dirty="0"/>
              <a:t>1  Frontend → Backend API URL</a:t>
            </a:r>
          </a:p>
          <a:p>
            <a:pPr>
              <a:spcBef>
                <a:spcPts val="900"/>
              </a:spcBef>
              <a:defRPr sz="1250" b="1">
                <a:solidFill>
                  <a:srgbClr val="F97316"/>
                </a:solidFill>
              </a:defRPr>
            </a:pPr>
            <a:r>
              <a:rPr dirty="0"/>
              <a:t>Problem</a:t>
            </a:r>
          </a:p>
          <a:p>
            <a:pPr>
              <a:spcBef>
                <a:spcPts val="200"/>
              </a:spcBef>
              <a:defRPr sz="1250">
                <a:solidFill>
                  <a:srgbClr val="94A3B8"/>
                </a:solidFill>
              </a:defRPr>
            </a:pPr>
            <a:r>
              <a:rPr dirty="0"/>
              <a:t>The frontend could load, but API operations were not reliable because the production API URL was not embedded correctly in the Next.js build.</a:t>
            </a:r>
          </a:p>
          <a:p>
            <a:pPr>
              <a:spcBef>
                <a:spcPts val="900"/>
              </a:spcBef>
              <a:defRPr sz="1250" b="1">
                <a:solidFill>
                  <a:srgbClr val="F97316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200"/>
              </a:spcBef>
              <a:defRPr sz="1250">
                <a:solidFill>
                  <a:srgbClr val="94A3B8"/>
                </a:solidFill>
              </a:defRPr>
            </a:pPr>
            <a:r>
              <a:rPr dirty="0"/>
              <a:t>Passed NEXT_PUBLIC_API_URL as a Docker build argument, rebuilt the frontend image, and redeployed it with the HTTPS application URL.</a:t>
            </a:r>
          </a:p>
          <a:p>
            <a:pPr>
              <a:spcBef>
                <a:spcPts val="900"/>
              </a:spcBef>
              <a:defRPr sz="1250" b="1">
                <a:solidFill>
                  <a:srgbClr val="F97316"/>
                </a:solidFill>
              </a:defRPr>
            </a:pPr>
            <a:r>
              <a:rPr dirty="0"/>
              <a:t>Learning</a:t>
            </a:r>
          </a:p>
          <a:p>
            <a:pPr>
              <a:spcBef>
                <a:spcPts val="200"/>
              </a:spcBef>
              <a:defRPr sz="1250">
                <a:solidFill>
                  <a:srgbClr val="94A3B8"/>
                </a:solidFill>
              </a:defRPr>
            </a:pPr>
            <a:r>
              <a:rPr dirty="0"/>
              <a:t>NEXT_PUBLIC_* values used by browser-side Next.js code must be available at build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111D31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82296" cy="4526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7" y="1581912"/>
            <a:ext cx="480060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rPr dirty="0"/>
              <a:t>2  Verifying CloudWatch Logging</a:t>
            </a:r>
          </a:p>
          <a:p>
            <a:pPr>
              <a:spcBef>
                <a:spcPts val="900"/>
              </a:spcBef>
              <a:defRPr sz="1250" b="1">
                <a:solidFill>
                  <a:srgbClr val="0EA5E9"/>
                </a:solidFill>
              </a:defRPr>
            </a:pPr>
            <a:r>
              <a:rPr dirty="0"/>
              <a:t>Problem</a:t>
            </a:r>
          </a:p>
          <a:p>
            <a:pPr>
              <a:spcBef>
                <a:spcPts val="200"/>
              </a:spcBef>
              <a:defRPr sz="1250">
                <a:solidFill>
                  <a:srgbClr val="94A3B8"/>
                </a:solidFill>
              </a:defRPr>
            </a:pPr>
            <a:r>
              <a:rPr dirty="0"/>
              <a:t>I needed to </a:t>
            </a:r>
            <a:r>
              <a:rPr lang="en-US" dirty="0"/>
              <a:t>verify</a:t>
            </a:r>
            <a:r>
              <a:rPr dirty="0"/>
              <a:t> that backend container logs were actually reaching CloudWatch.</a:t>
            </a:r>
          </a:p>
          <a:p>
            <a:pPr>
              <a:spcBef>
                <a:spcPts val="900"/>
              </a:spcBef>
              <a:defRPr sz="1250" b="1">
                <a:solidFill>
                  <a:srgbClr val="0EA5E9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200"/>
              </a:spcBef>
              <a:defRPr sz="1250">
                <a:solidFill>
                  <a:srgbClr val="94A3B8"/>
                </a:solidFill>
              </a:defRPr>
            </a:pPr>
            <a:r>
              <a:rPr dirty="0"/>
              <a:t>Used CloudWatch Logs Insights to filter the </a:t>
            </a:r>
            <a:r>
              <a:rPr dirty="0" err="1"/>
              <a:t>expensy</a:t>
            </a:r>
            <a:r>
              <a:rPr dirty="0"/>
              <a:t>-backend pod and searched for application activity such as “Cache hit”.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The project met the core DevOps objectives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F8FAFC"/>
                </a:solidFill>
              </a:defRPr>
            </a:pPr>
            <a:r>
              <a:t>• Infrastructure is reproducible with Terraform.</a:t>
            </a:r>
          </a:p>
          <a:p>
            <a:pPr>
              <a:spcAft>
                <a:spcPts val="1100"/>
              </a:spcAft>
              <a:defRPr sz="2000">
                <a:solidFill>
                  <a:srgbClr val="F8FAFC"/>
                </a:solidFill>
              </a:defRPr>
            </a:pPr>
            <a:r>
              <a:t>• The application is containerized and orchestrated on EKS.</a:t>
            </a:r>
          </a:p>
          <a:p>
            <a:pPr>
              <a:spcAft>
                <a:spcPts val="1100"/>
              </a:spcAft>
              <a:defRPr sz="2000">
                <a:solidFill>
                  <a:srgbClr val="F8FAFC"/>
                </a:solidFill>
              </a:defRPr>
            </a:pPr>
            <a:r>
              <a:t>• CI/CD automates image build, push and Kubernetes deployment.</a:t>
            </a:r>
          </a:p>
          <a:p>
            <a:pPr>
              <a:spcAft>
                <a:spcPts val="1100"/>
              </a:spcAft>
              <a:defRPr sz="2000">
                <a:solidFill>
                  <a:srgbClr val="F8FAFC"/>
                </a:solidFill>
              </a:defRPr>
            </a:pPr>
            <a:r>
              <a:t>• HTTPS, secrets, private workers, monitoring and centralized logging are implemented.</a:t>
            </a:r>
          </a:p>
          <a:p>
            <a:pPr>
              <a:spcAft>
                <a:spcPts val="1100"/>
              </a:spcAft>
              <a:defRPr sz="2000">
                <a:solidFill>
                  <a:srgbClr val="F8FAFC"/>
                </a:solidFill>
              </a:defRPr>
            </a:pPr>
            <a:r>
              <a:t>• Main learning: DevOps is the integration of application, infrastructure, delivery, security and observability.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212080"/>
            <a:ext cx="128016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Terraform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5212080"/>
            <a:ext cx="1417320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Kubernetes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5212080"/>
            <a:ext cx="1737360" cy="4389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GitHub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5212080"/>
            <a:ext cx="1143000" cy="43891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HTTPS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5212080"/>
            <a:ext cx="1188720" cy="43891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Grafana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5212080"/>
            <a:ext cx="14173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CloudWatch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61945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rPr lang="en-US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t>EXPENSY</a:t>
            </a:r>
          </a:p>
          <a:p>
            <a:pPr algn="ctr">
              <a:spcBef>
                <a:spcPts val="1400"/>
              </a:spcBef>
              <a:defRPr sz="3000">
                <a:solidFill>
                  <a:srgbClr val="0EA5E9"/>
                </a:solidFill>
              </a:defRPr>
            </a:pPr>
            <a:r>
              <a:t>Thank You</a:t>
            </a:r>
          </a:p>
          <a:p>
            <a:pPr algn="ctr">
              <a:spcBef>
                <a:spcPts val="1800"/>
              </a:spcBef>
              <a:defRPr sz="1800">
                <a:solidFill>
                  <a:srgbClr val="94A3B8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1945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416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rPr lang="en-US" dirty="0"/>
              <a:t>DEMO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1461945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rPr lang="en-US" dirty="0"/>
              <a:t>9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C19B72B-97D8-46A4-AE93-1A2D1CF14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6" y="954508"/>
            <a:ext cx="4701473" cy="22544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C3598-9F6B-405F-80CD-7AB4D6482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06" y="3587343"/>
            <a:ext cx="4964945" cy="17161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504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34</cp:revision>
  <dcterms:created xsi:type="dcterms:W3CDTF">2013-01-27T09:14:16Z</dcterms:created>
  <dcterms:modified xsi:type="dcterms:W3CDTF">2026-08-14T14:51:01Z</dcterms:modified>
  <cp:category/>
</cp:coreProperties>
</file>